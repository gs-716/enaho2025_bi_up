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194560"/>
            <a:ext cx="6858000" cy="6858000"/>
          </a:xfrm>
          <a:prstGeom prst="ellipse">
            <a:avLst/>
          </a:prstGeom>
          <a:solidFill>
            <a:srgbClr val="1B9AAA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2926080"/>
            <a:ext cx="5029200" cy="5029200"/>
          </a:xfrm>
          <a:prstGeom prst="ellipse">
            <a:avLst/>
          </a:prstGeom>
          <a:solidFill>
            <a:srgbClr val="E8A33D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FB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 ·  ENAHO 2025  ·  MÓDULO 100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48%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4526280" y="1371600"/>
            <a:ext cx="6583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hogares peruanos vive con dos o más carencias de servicios básicos.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i="1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bienestar habitacional no se explica con un solo indicador: un hogar puede tener vivienda y, aun así, vivir en hacinamiento, sin agua segura o sin saneamiento.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31520" y="48006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Datamart de Bienestar Habitacional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31520" y="5486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 de vivienda y acceso a servicios básicos en el Perú  ·  Solución de Business Intelligence sobre microdatos del INEI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61722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170342 · Universidad del Pacífico · 2026-01   |   Caso: INEI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9AAA"/>
          </a:solidFill>
          <a:ln/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EMPRESA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INEI: el productor de la estadística oficial del Perú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Instituto Nacional de Estadística e Informática es el organismo técnico rector del Sistema Estadístico Nacional: norma, dirige y supervisa la estadística oficial que sustenta el diseño y la evaluación de políticas públicas.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7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fuente insignia: la ENAHO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6492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Encuesta Nacional de Hogares recoge, con cobertura nacional, las condiciones de vida en vivienda, educación, salud, empleo, ingresos y servicios básicos. Trabajamos con su Módulo 100 — «Características de la Vivienda y del Hogar».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0" y="1874520"/>
            <a:ext cx="4325112" cy="4069080"/>
          </a:xfrm>
          <a:prstGeom prst="roundRect">
            <a:avLst>
              <a:gd name="adj" fmla="val 2247"/>
            </a:avLst>
          </a:prstGeom>
          <a:solidFill>
            <a:srgbClr val="0E2A3F"/>
          </a:solidFill>
          <a:ln/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589520" y="2103120"/>
            <a:ext cx="3776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100 · qué contiene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607808" y="2670048"/>
            <a:ext cx="146304" cy="146304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2" name="Text 10"/>
          <p:cNvSpPr/>
          <p:nvPr/>
        </p:nvSpPr>
        <p:spPr>
          <a:xfrm>
            <a:off x="7882128" y="2569464"/>
            <a:ext cx="3502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DC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vivienda y materiales de construcción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7607808" y="3127248"/>
            <a:ext cx="146304" cy="146304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4" name="Text 12"/>
          <p:cNvSpPr/>
          <p:nvPr/>
        </p:nvSpPr>
        <p:spPr>
          <a:xfrm>
            <a:off x="7882128" y="3026664"/>
            <a:ext cx="3502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DC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Tenencia y formalidad de la propiedad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7607808" y="3584448"/>
            <a:ext cx="146304" cy="146304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6" name="Text 14"/>
          <p:cNvSpPr/>
          <p:nvPr/>
        </p:nvSpPr>
        <p:spPr>
          <a:xfrm>
            <a:off x="7882128" y="3483864"/>
            <a:ext cx="3502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DC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y continuidad del agua potable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7607808" y="4041648"/>
            <a:ext cx="146304" cy="146304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8" name="Text 16"/>
          <p:cNvSpPr/>
          <p:nvPr/>
        </p:nvSpPr>
        <p:spPr>
          <a:xfrm>
            <a:off x="7882128" y="3941064"/>
            <a:ext cx="3502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DC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Saneamiento (eliminación de excretas)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7607808" y="4498848"/>
            <a:ext cx="146304" cy="146304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20" name="Text 18"/>
          <p:cNvSpPr/>
          <p:nvPr/>
        </p:nvSpPr>
        <p:spPr>
          <a:xfrm>
            <a:off x="7882128" y="4398264"/>
            <a:ext cx="3502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DC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Electricidad y energía para cocinar</a:t>
            </a:r>
            <a:endParaRPr lang="en-US" sz="1280" dirty="0"/>
          </a:p>
        </p:txBody>
      </p:sp>
      <p:sp>
        <p:nvSpPr>
          <p:cNvPr id="21" name="Shape 19"/>
          <p:cNvSpPr/>
          <p:nvPr/>
        </p:nvSpPr>
        <p:spPr>
          <a:xfrm>
            <a:off x="7607808" y="4956048"/>
            <a:ext cx="146304" cy="146304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22" name="Text 20"/>
          <p:cNvSpPr/>
          <p:nvPr/>
        </p:nvSpPr>
        <p:spPr>
          <a:xfrm>
            <a:off x="7882128" y="4855464"/>
            <a:ext cx="3502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DC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 digital (TIC)</a:t>
            </a:r>
            <a:endParaRPr lang="en-US" sz="1280" dirty="0"/>
          </a:p>
        </p:txBody>
      </p:sp>
      <p:sp>
        <p:nvSpPr>
          <p:cNvPr id="23" name="Shape 21"/>
          <p:cNvSpPr/>
          <p:nvPr/>
        </p:nvSpPr>
        <p:spPr>
          <a:xfrm>
            <a:off x="7607808" y="5413248"/>
            <a:ext cx="146304" cy="146304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24" name="Text 22"/>
          <p:cNvSpPr/>
          <p:nvPr/>
        </p:nvSpPr>
        <p:spPr>
          <a:xfrm>
            <a:off x="7882128" y="5312664"/>
            <a:ext cx="3502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DC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mensual asociado a estos servicios</a:t>
            </a:r>
            <a:endParaRPr lang="en-US" sz="1280" dirty="0"/>
          </a:p>
        </p:txBody>
      </p:sp>
      <p:sp>
        <p:nvSpPr>
          <p:cNvPr id="25" name="Text 23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ENAHO 2025 · Módulo 100 (INEI)</a:t>
            </a:r>
            <a:pPr algn="l" indent="0" marL="0">
              <a:buNone/>
            </a:pPr>
            <a:r>
              <a:rPr lang="en-US" sz="900" dirty="0">
                <a:solidFill>
                  <a:srgbClr val="9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Estimaciones ponderadas por FACTOR07 · carencias sin TIC = cota inferior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D85C4A"/>
          </a:solidFill>
          <a:ln/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PROBLEMÁTICA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déficit no es de techo: es de calidad y de acceso desigual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2025 persisten brechas en vivienda, servicios básicos y conectividad. El problema de fondo no es la ausencia de vivienda, sino la inadecuación de sus condiciones y un acceso a servicios que se reparte de forma desigual en el territorio — una decisión de inversión que hoy se toma sin una vista integral.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2615184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3054096"/>
            <a:ext cx="24323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85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 M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58368" y="3933749"/>
            <a:ext cx="2395728" cy="6601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viviendas de déficit habitacional estimado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46704" y="2926080"/>
            <a:ext cx="2615184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38144" y="3054096"/>
            <a:ext cx="24323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9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90.4% / 80.5%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56432" y="3933749"/>
            <a:ext cx="2395728" cy="6601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 por red pública: nacional vs. rural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44768" y="2926080"/>
            <a:ext cx="2615184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36208" y="3054096"/>
            <a:ext cx="24323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29.4% / 87.5%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54496" y="3933749"/>
            <a:ext cx="2395728" cy="6601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alcantarillado público: rural vs. urbano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42832" y="2926080"/>
            <a:ext cx="2615184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34272" y="3054096"/>
            <a:ext cx="24323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78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23.6% / 80.5%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052560" y="3933749"/>
            <a:ext cx="2395728" cy="6601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internet: área rural vs. Lima Metrop.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93776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0E2A3F"/>
          </a:solidFill>
          <a:ln/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49377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acceso no garantiza continuidad: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3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2024 las empresas prestadoras dieron en promedio </a:t>
            </a:r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 horas de agua al día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3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Sin una medición multidimensional, la inversión pública no sabe dónde rinde más.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de referencia nacional (INEI, 2025; Banco Mundial, 2022).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108960"/>
            <a:ext cx="6400800" cy="6400800"/>
          </a:xfrm>
          <a:prstGeom prst="ellipse">
            <a:avLst/>
          </a:prstGeom>
          <a:solidFill>
            <a:srgbClr val="1B9AAA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5720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 ANALÍTICO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sola métrica esconde el problema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Tener ingresos no significa vivir con espacio suficiente; tener agua conectada no significa recibirla todos los días; ganar más no significa tener internet en casa. El bienestar habitacional es multidimensional, y las decisiones de inversión necesitan verlo así.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48640" y="37947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preguntas que el tablero responde, una en cada acto: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4206240"/>
            <a:ext cx="6035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350" dirty="0">
                <a:solidFill>
                  <a:srgbClr val="E8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están los hogares con más carencias?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dónde priorizar la inversión</a:t>
            </a:r>
            <a:endParaRPr lang="en-US" sz="135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350" dirty="0">
                <a:solidFill>
                  <a:srgbClr val="E8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les falta: agua, saneamiento o materiales?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qué intervenir</a:t>
            </a:r>
            <a:endParaRPr lang="en-US" sz="135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350" dirty="0">
                <a:solidFill>
                  <a:srgbClr val="E8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gastan en sostener esos servicios?</a:t>
            </a:r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cuánto presupuestar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040880" y="1965960"/>
            <a:ext cx="4572000" cy="4114800"/>
          </a:xfrm>
          <a:prstGeom prst="roundRect">
            <a:avLst>
              <a:gd name="adj" fmla="val 2222"/>
            </a:avLst>
          </a:prstGeom>
          <a:solidFill>
            <a:srgbClr val="143449"/>
          </a:solidFill>
          <a:ln w="12700">
            <a:solidFill>
              <a:srgbClr val="2C51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224028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respuesta: integrar 6 dimensiones del bienestar en una sola fuente analítica.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0" y="3273552"/>
            <a:ext cx="201168" cy="201168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3" name="Text 11"/>
          <p:cNvSpPr/>
          <p:nvPr/>
        </p:nvSpPr>
        <p:spPr>
          <a:xfrm>
            <a:off x="7635240" y="31912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Habitabilidad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0" y="3730752"/>
            <a:ext cx="201168" cy="201168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5" name="Text 13"/>
          <p:cNvSpPr/>
          <p:nvPr/>
        </p:nvSpPr>
        <p:spPr>
          <a:xfrm>
            <a:off x="7635240" y="36484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0" y="4187952"/>
            <a:ext cx="201168" cy="201168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7" name="Text 15"/>
          <p:cNvSpPr/>
          <p:nvPr/>
        </p:nvSpPr>
        <p:spPr>
          <a:xfrm>
            <a:off x="7635240" y="41056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Saneamiento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0" y="4645152"/>
            <a:ext cx="201168" cy="201168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9" name="Text 17"/>
          <p:cNvSpPr/>
          <p:nvPr/>
        </p:nvSpPr>
        <p:spPr>
          <a:xfrm>
            <a:off x="7635240" y="45628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Energía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0" y="5102352"/>
            <a:ext cx="201168" cy="201168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21" name="Text 19"/>
          <p:cNvSpPr/>
          <p:nvPr/>
        </p:nvSpPr>
        <p:spPr>
          <a:xfrm>
            <a:off x="7635240" y="50200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15200" y="5559552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7635240" y="54772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del hogar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ENAHO 2025 · Módulo 100 (INEI)</a:t>
            </a:r>
            <a:pPr algn="l" indent="0" marL="0">
              <a:buNone/>
            </a:pPr>
            <a:r>
              <a:rPr lang="en-US" sz="900" dirty="0">
                <a:solidFill>
                  <a:srgbClr val="9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Estimaciones ponderadas por FACTOR07 · carencias sin TIC = cota inferior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9AAA"/>
          </a:solidFill>
          <a:ln/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DE BI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microdatos crudos a decisiones: un pipeline auditado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Aplicamos ETL, modelado dimensional y explotación tipo OLAP para convertir la encuesta en un activo de información reutilizable que la gestión consulta sin tocar el dato crudo.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1680972" cy="2286000"/>
          </a:xfrm>
          <a:prstGeom prst="roundRect">
            <a:avLst>
              <a:gd name="adj" fmla="val 4352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96518" y="3182112"/>
            <a:ext cx="585216" cy="585216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9" name="Text 7"/>
          <p:cNvSpPr/>
          <p:nvPr/>
        </p:nvSpPr>
        <p:spPr>
          <a:xfrm>
            <a:off x="1096518" y="31821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21792" y="3886200"/>
            <a:ext cx="15346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4407408"/>
            <a:ext cx="14980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ENAHO M100 — carga full inicial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211324" y="379476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EBD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2430780" y="2926080"/>
            <a:ext cx="1680972" cy="2286000"/>
          </a:xfrm>
          <a:prstGeom prst="roundRect">
            <a:avLst>
              <a:gd name="adj" fmla="val 4352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978658" y="3182112"/>
            <a:ext cx="585216" cy="585216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5" name="Text 13"/>
          <p:cNvSpPr/>
          <p:nvPr/>
        </p:nvSpPr>
        <p:spPr>
          <a:xfrm>
            <a:off x="2978658" y="31821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503932" y="3886200"/>
            <a:ext cx="15346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+ Profiling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522220" y="4407408"/>
            <a:ext cx="14980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en Python: nulos, tipos, llave única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093464" y="379476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EBD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4312920" y="2926080"/>
            <a:ext cx="1680972" cy="2286000"/>
          </a:xfrm>
          <a:prstGeom prst="roundRect">
            <a:avLst>
              <a:gd name="adj" fmla="val 4352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60798" y="3182112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4860798" y="31821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386072" y="3886200"/>
            <a:ext cx="15346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Transformación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404360" y="4407408"/>
            <a:ext cx="14980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negocio → indicadores computables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75604" y="379476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EBD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6195060" y="2926080"/>
            <a:ext cx="1680972" cy="2286000"/>
          </a:xfrm>
          <a:prstGeom prst="roundRect">
            <a:avLst>
              <a:gd name="adj" fmla="val 4352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42938" y="3182112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7" name="Text 25"/>
          <p:cNvSpPr/>
          <p:nvPr/>
        </p:nvSpPr>
        <p:spPr>
          <a:xfrm>
            <a:off x="6742938" y="31821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268212" y="3886200"/>
            <a:ext cx="15346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estrella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286500" y="4407408"/>
            <a:ext cx="14980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hecho + 10 dimensiones, claves subrogadas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857744" y="379476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EBD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8077200" y="2926080"/>
            <a:ext cx="1680972" cy="2286000"/>
          </a:xfrm>
          <a:prstGeom prst="roundRect">
            <a:avLst>
              <a:gd name="adj" fmla="val 4352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625078" y="3182112"/>
            <a:ext cx="585216" cy="585216"/>
          </a:xfrm>
          <a:prstGeom prst="ellipse">
            <a:avLst/>
          </a:prstGeom>
          <a:solidFill>
            <a:srgbClr val="127884"/>
          </a:solidFill>
          <a:ln/>
        </p:spPr>
      </p:sp>
      <p:sp>
        <p:nvSpPr>
          <p:cNvPr id="33" name="Text 31"/>
          <p:cNvSpPr/>
          <p:nvPr/>
        </p:nvSpPr>
        <p:spPr>
          <a:xfrm>
            <a:off x="8625078" y="31821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150352" y="3886200"/>
            <a:ext cx="15346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Neon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168640" y="4407408"/>
            <a:ext cx="14980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ordenada en nube serverless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739884" y="379476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EBD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9959340" y="2926080"/>
            <a:ext cx="1680972" cy="2286000"/>
          </a:xfrm>
          <a:prstGeom prst="roundRect">
            <a:avLst>
              <a:gd name="adj" fmla="val 4352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0507218" y="3182112"/>
            <a:ext cx="585216" cy="585216"/>
          </a:xfrm>
          <a:prstGeom prst="ellipse">
            <a:avLst/>
          </a:prstGeom>
          <a:solidFill>
            <a:srgbClr val="D85C4A"/>
          </a:solidFill>
          <a:ln/>
        </p:spPr>
      </p:sp>
      <p:sp>
        <p:nvSpPr>
          <p:cNvPr id="39" name="Text 37"/>
          <p:cNvSpPr/>
          <p:nvPr/>
        </p:nvSpPr>
        <p:spPr>
          <a:xfrm>
            <a:off x="10507218" y="31821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10032492" y="3886200"/>
            <a:ext cx="15346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10050780" y="4407408"/>
            <a:ext cx="14980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de explotación y decisión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ETL no es un traslado mecánico: es la garantía de calidad que sostiene cada cifra que la gerencia verá en el tablero.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ENAHO 2025 · Módulo 100 (INEI)</a:t>
            </a:r>
            <a:pPr algn="l" indent="0" marL="0">
              <a:buNone/>
            </a:pPr>
            <a:r>
              <a:rPr lang="en-US" sz="900" dirty="0">
                <a:solidFill>
                  <a:srgbClr val="9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Estimaciones ponderadas por FACTOR07 · carencias sin TIC = cota inferior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9AAA"/>
          </a:solidFill>
          <a:ln/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SELECCIÓN DE VARIABLES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334 columnas a 93: una selección con propósito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81051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estudio se sostiene en decisiones explícitas. Partimos del módulo 100 completo y conservamos solo lo que explica y mide la brecha de bienestar.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100  ·  334 VARIABLES IDENTIFICADAS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7889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B9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2331720" y="292608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utilizadas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insumo del datamart  ·  28% del módulo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1680415" cy="45720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11" name="Shape 9"/>
          <p:cNvSpPr/>
          <p:nvPr/>
        </p:nvSpPr>
        <p:spPr>
          <a:xfrm>
            <a:off x="2229055" y="4114800"/>
            <a:ext cx="4354625" cy="457200"/>
          </a:xfrm>
          <a:prstGeom prst="rect">
            <a:avLst/>
          </a:prstGeom>
          <a:solidFill>
            <a:srgbClr val="D2DBE1"/>
          </a:solidFill>
          <a:ln/>
        </p:spPr>
      </p:sp>
      <p:sp>
        <p:nvSpPr>
          <p:cNvPr id="12" name="Text 10"/>
          <p:cNvSpPr/>
          <p:nvPr/>
        </p:nvSpPr>
        <p:spPr>
          <a:xfrm>
            <a:off x="2338783" y="4114800"/>
            <a:ext cx="41717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 no utilizadas por alcance  ·  72%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1680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 · 28%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903720" y="2468880"/>
            <a:ext cx="4736592" cy="2331720"/>
          </a:xfrm>
          <a:prstGeom prst="roundRect">
            <a:avLst>
              <a:gd name="adj" fmla="val 3922"/>
            </a:avLst>
          </a:prstGeom>
          <a:solidFill>
            <a:srgbClr val="0E2A3F"/>
          </a:solidFill>
          <a:ln/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59752" y="2633472"/>
            <a:ext cx="4279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inclusión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178040" y="2999232"/>
            <a:ext cx="423367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80" dirty="0">
                <a:solidFill>
                  <a:srgbClr val="DC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Identificar, ubicar y ponderar el hogar (llave, UBIGEO, DOMINIO, ESTRATO, FACTOR07).</a:t>
            </a:r>
            <a:endParaRPr lang="en-US" sz="1180" dirty="0"/>
          </a:p>
          <a:p>
            <a:pPr marL="165100" indent="-1651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80" dirty="0">
                <a:solidFill>
                  <a:srgbClr val="DC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vivienda, materiales, tenencia, agua, saneamiento, energía y conectividad.</a:t>
            </a:r>
            <a:endParaRPr lang="en-US" sz="1180" dirty="0"/>
          </a:p>
          <a:p>
            <a:pPr marL="165100" indent="-1651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80" dirty="0">
                <a:solidFill>
                  <a:srgbClr val="DC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 monetario, usar el gasto imputado pagado por el hogar (corrige valores perdidos).</a:t>
            </a:r>
            <a:endParaRPr lang="en-US" sz="1180" dirty="0"/>
          </a:p>
          <a:p>
            <a:pPr marL="165100" indent="-165100">
              <a:lnSpc>
                <a:spcPct val="100000"/>
              </a:lnSpc>
              <a:buSzPct val="100000"/>
              <a:buChar char="•"/>
            </a:pPr>
            <a:r>
              <a:rPr lang="en-US" sz="1180" dirty="0">
                <a:solidFill>
                  <a:srgbClr val="DC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Descartar lo operativo, redundante o ajeno a la problemática.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548640" y="507492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AF1F2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5074920"/>
            <a:ext cx="10469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27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metodológica: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excluir no es descartar por error. Una variable fuera del datamart sigue siendo válida en la ENAHO; simplemente no aporta al alcance definido —vivienda, servicios básicos, conectividad y gasto asociado.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ENAHO 2025 · Módulo 100 (INEI)</a:t>
            </a:r>
            <a:pPr algn="l" indent="0" marL="0">
              <a:buNone/>
            </a:pPr>
            <a:r>
              <a:rPr lang="en-US" sz="900" dirty="0">
                <a:solidFill>
                  <a:srgbClr val="9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Estimaciones ponderadas por FACTOR07 · carencias sin TIC = cota inferior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9AAA"/>
          </a:solidFill>
          <a:ln/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SELECCIÓN DE VARIABLES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entró al modelo: 93 variables que miden la brecha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98932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130552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  </a:t>
            </a:r>
            <a:pPr indent="0" marL="0">
              <a:buNone/>
            </a:pPr>
            <a:r>
              <a:rPr lang="en-US" sz="13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→ 1 tabla de hechos + 10 dimensiones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59536" y="2749731"/>
            <a:ext cx="146304" cy="146304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9" name="Text 7"/>
          <p:cNvSpPr/>
          <p:nvPr/>
        </p:nvSpPr>
        <p:spPr>
          <a:xfrm>
            <a:off x="1115568" y="2679192"/>
            <a:ext cx="5166360" cy="287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Identificación, territorio y factor de expansión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41248" y="2966575"/>
            <a:ext cx="5404104" cy="0"/>
          </a:xfrm>
          <a:prstGeom prst="line">
            <a:avLst/>
          </a:prstGeom>
          <a:noFill/>
          <a:ln w="12700">
            <a:solidFill>
              <a:srgbClr val="ED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3037114"/>
            <a:ext cx="146304" cy="146304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2" name="Text 10"/>
          <p:cNvSpPr/>
          <p:nvPr/>
        </p:nvSpPr>
        <p:spPr>
          <a:xfrm>
            <a:off x="1115568" y="2966575"/>
            <a:ext cx="5166360" cy="287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Vivienda, materiales y tenencia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41248" y="3253958"/>
            <a:ext cx="5404104" cy="0"/>
          </a:xfrm>
          <a:prstGeom prst="line">
            <a:avLst/>
          </a:prstGeom>
          <a:noFill/>
          <a:ln w="12700">
            <a:solidFill>
              <a:srgbClr val="ED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9536" y="3324497"/>
            <a:ext cx="146304" cy="146304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5" name="Text 13"/>
          <p:cNvSpPr/>
          <p:nvPr/>
        </p:nvSpPr>
        <p:spPr>
          <a:xfrm>
            <a:off x="1115568" y="3253958"/>
            <a:ext cx="5166360" cy="287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 y saneamiento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41248" y="3541341"/>
            <a:ext cx="5404104" cy="0"/>
          </a:xfrm>
          <a:prstGeom prst="line">
            <a:avLst/>
          </a:prstGeom>
          <a:noFill/>
          <a:ln w="12700">
            <a:solidFill>
              <a:srgbClr val="ED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" y="3611880"/>
            <a:ext cx="146304" cy="146304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8" name="Text 16"/>
          <p:cNvSpPr/>
          <p:nvPr/>
        </p:nvSpPr>
        <p:spPr>
          <a:xfrm>
            <a:off x="1115568" y="3541341"/>
            <a:ext cx="5166360" cy="287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Electricidad y energía para cocinar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41248" y="3828723"/>
            <a:ext cx="5404104" cy="0"/>
          </a:xfrm>
          <a:prstGeom prst="line">
            <a:avLst/>
          </a:prstGeom>
          <a:noFill/>
          <a:ln w="12700">
            <a:solidFill>
              <a:srgbClr val="EDF1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9536" y="3899263"/>
            <a:ext cx="146304" cy="146304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21" name="Text 19"/>
          <p:cNvSpPr/>
          <p:nvPr/>
        </p:nvSpPr>
        <p:spPr>
          <a:xfrm>
            <a:off x="1115568" y="3828723"/>
            <a:ext cx="5166360" cy="287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 / TIC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41248" y="4116106"/>
            <a:ext cx="5404104" cy="0"/>
          </a:xfrm>
          <a:prstGeom prst="line">
            <a:avLst/>
          </a:prstGeom>
          <a:noFill/>
          <a:ln w="12700">
            <a:solidFill>
              <a:srgbClr val="EDF1F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9536" y="4186646"/>
            <a:ext cx="146304" cy="146304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24" name="Text 22"/>
          <p:cNvSpPr/>
          <p:nvPr/>
        </p:nvSpPr>
        <p:spPr>
          <a:xfrm>
            <a:off x="1115568" y="4116106"/>
            <a:ext cx="5166360" cy="287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imputado en servicios (valores I)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41248" y="4403489"/>
            <a:ext cx="5404104" cy="0"/>
          </a:xfrm>
          <a:prstGeom prst="line">
            <a:avLst/>
          </a:prstGeom>
          <a:noFill/>
          <a:ln w="12700">
            <a:solidFill>
              <a:srgbClr val="EDF1F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9536" y="4474029"/>
            <a:ext cx="146304" cy="146304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27" name="Text 25"/>
          <p:cNvSpPr/>
          <p:nvPr/>
        </p:nvSpPr>
        <p:spPr>
          <a:xfrm>
            <a:off x="1115568" y="4403489"/>
            <a:ext cx="5166360" cy="287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NBI y bienestar del hogar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766560" y="1965960"/>
            <a:ext cx="4873752" cy="2880360"/>
          </a:xfrm>
          <a:prstGeom prst="roundRect">
            <a:avLst>
              <a:gd name="adj" fmla="val 3175"/>
            </a:avLst>
          </a:prstGeom>
          <a:solidFill>
            <a:srgbClr val="0E2A3F"/>
          </a:solidFill>
          <a:ln/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040880" y="2185416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clave: el gasto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059168" y="2679192"/>
            <a:ext cx="4325112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DC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ENAHO ofrece tres versiones del gasto: Corrientes (P), Deflactados (D) e Imputados (I).</a:t>
            </a:r>
            <a:endParaRPr lang="en-US" sz="125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DC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Elegimos los Imputados (I): corrigen valores perdidos y hacen comparable el gasto entre hogares.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esa decisión, el indicador de gasto por dominio sería engañoso.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507492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EAF1F2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5074920"/>
            <a:ext cx="10469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27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síntesis: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variable conservada cumple una función clara —identificar, segmentar, describir condiciones, medir acceso, costear servicios o aproximar el bienestar (NBI).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ENAHO 2025 · Módulo 100 (INEI)</a:t>
            </a:r>
            <a:pPr algn="l" indent="0" marL="0">
              <a:buNone/>
            </a:pPr>
            <a:r>
              <a:rPr lang="en-US" sz="900" dirty="0">
                <a:solidFill>
                  <a:srgbClr val="9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Estimaciones ponderadas por FACTOR07 · carencias sin TIC = cota inferior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9AAA"/>
          </a:solidFill>
          <a:ln/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SELECCIÓN DE VARIABLES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quedaron fuera las 241 variables restantes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66420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son errores ni datos de menor calidad: pertenecen a submodelos que no miden la brecha de vivienda, servicios, conectividad ni gasto — el foco de nuestra problemática.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351434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331720"/>
            <a:ext cx="82296" cy="1371600"/>
          </a:xfrm>
          <a:prstGeom prst="rect">
            <a:avLst/>
          </a:prstGeom>
          <a:solidFill>
            <a:srgbClr val="D85C4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2478024"/>
            <a:ext cx="2599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monetarios alternativos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21736" y="2441448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85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86384" y="3008376"/>
            <a:ext cx="31028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Corrientes (P) y deflactados (D) con valores perdidos; los reemplaza el gasto imputado (I).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4337304" y="2331720"/>
            <a:ext cx="351434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37304" y="2331720"/>
            <a:ext cx="82296" cy="13716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5048" y="2478024"/>
            <a:ext cx="2599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de vivienda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10400" y="2441448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5048" y="3008376"/>
            <a:ext cx="31028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Financiamiento habitacional, no acceso ni condición actual de los servicios.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8125968" y="2331720"/>
            <a:ext cx="351434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25968" y="2331720"/>
            <a:ext cx="82296" cy="137160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19" name="Text 17"/>
          <p:cNvSpPr/>
          <p:nvPr/>
        </p:nvSpPr>
        <p:spPr>
          <a:xfrm>
            <a:off x="8363712" y="2478024"/>
            <a:ext cx="2599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Versiones crudas y detalle técnico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799064" y="2441448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B9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363712" y="3008376"/>
            <a:ext cx="31028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Reemplazadas por versiones recodificadas (T110, T111A, P1121, P113A, P1144).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548640" y="3977640"/>
            <a:ext cx="351434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977640"/>
            <a:ext cx="82296" cy="1371600"/>
          </a:xfrm>
          <a:prstGeom prst="rect">
            <a:avLst/>
          </a:prstGeom>
          <a:solidFill>
            <a:srgbClr val="127884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" y="4123944"/>
            <a:ext cx="2599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de la encuesta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21736" y="4087368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278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86384" y="4654296"/>
            <a:ext cx="31028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Control, informantes y periodos: auditan el levantamiento, no al hogar.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4337304" y="3977640"/>
            <a:ext cx="351434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337304" y="3977640"/>
            <a:ext cx="82296" cy="13716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9" name="Text 27"/>
          <p:cNvSpPr/>
          <p:nvPr/>
        </p:nvSpPr>
        <p:spPr>
          <a:xfrm>
            <a:off x="4575048" y="4123944"/>
            <a:ext cx="2599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y mercado de la vivienda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010400" y="4087368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575048" y="4654296"/>
            <a:ext cx="31028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Fachada, calle y venta de activos: miran el exterior, no la vivienda interna.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8125968" y="3977640"/>
            <a:ext cx="351434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125968" y="3977640"/>
            <a:ext cx="82296" cy="137160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34" name="Text 32"/>
          <p:cNvSpPr/>
          <p:nvPr/>
        </p:nvSpPr>
        <p:spPr>
          <a:xfrm>
            <a:off x="8363712" y="4123944"/>
            <a:ext cx="2599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Granularidad geográfica extra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799064" y="4087368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B9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8363712" y="4654296"/>
            <a:ext cx="31028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poblado y conglomerado: ya cubierto por UBIGEO, DOMINIO y ESTRATO.</a:t>
            </a:r>
            <a:endParaRPr lang="en-US" sz="1030" dirty="0"/>
          </a:p>
        </p:txBody>
      </p:sp>
      <p:sp>
        <p:nvSpPr>
          <p:cNvPr id="37" name="Shape 35"/>
          <p:cNvSpPr/>
          <p:nvPr/>
        </p:nvSpPr>
        <p:spPr>
          <a:xfrm>
            <a:off x="548640" y="5532120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0E2A3F"/>
          </a:solidFill>
          <a:ln/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22960" y="5532120"/>
            <a:ext cx="10543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único de exclusión: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variable no mide la brecha de bienestar habitacional, servicios, conectividad o gasto, quedó fuera del alcance — aunque sea válida en la ENAHO.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ENAHO 2025 · Módulo 100 (INEI)</a:t>
            </a:r>
            <a:pPr algn="l" indent="0" marL="0">
              <a:buNone/>
            </a:pPr>
            <a:r>
              <a:rPr lang="en-US" sz="900" dirty="0">
                <a:solidFill>
                  <a:srgbClr val="9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Estimaciones ponderadas por FACTOR07 · carencias sin TIC = cota inferior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9AAA"/>
          </a:solidFill>
          <a:ln/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DIMENSIONAL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Esquema estrella: 1 tabla de hechos, 10 dimensiones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795528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pic>
        <p:nvPicPr>
          <p:cNvPr id="7" name="Image 0" descr="assets/e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93392"/>
            <a:ext cx="7772400" cy="2419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449884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fact_hogar_bienestar  +  dim_tiempo · dim_geografia · dim_vivienda · dim_materiales · dim_habitabilidad · dim_tenencia · dim_agua · dim_saneamiento · dim_energia · dim_conectividad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8641080" y="1874520"/>
            <a:ext cx="3017520" cy="3063240"/>
          </a:xfrm>
          <a:prstGeom prst="roundRect">
            <a:avLst>
              <a:gd name="adj" fmla="val 2424"/>
            </a:avLst>
          </a:prstGeom>
          <a:solidFill>
            <a:srgbClr val="0E2A3F"/>
          </a:solidFill>
          <a:ln/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869680" y="20299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negocio clave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869680" y="2450592"/>
            <a:ext cx="25603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Grano: </a:t>
            </a:r>
            <a:pPr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14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fila = 1 hogar entrevistado.</a:t>
            </a:r>
            <a:endParaRPr lang="en-US" sz="11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Filtro: </a:t>
            </a:r>
            <a:pPr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14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entrevistas completas (RESULT = 1).</a:t>
            </a:r>
            <a:endParaRPr lang="en-US" sz="11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Llave: </a:t>
            </a:r>
            <a:pPr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14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+ CONGLOME + VIVIENDA + HOGAR.</a:t>
            </a:r>
            <a:endParaRPr lang="en-US" sz="11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Ponderación: </a:t>
            </a:r>
            <a:pPr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14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FACTOR07 en toda estimación.</a:t>
            </a:r>
            <a:endParaRPr lang="en-US" sz="11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Brecha: </a:t>
            </a:r>
            <a:pPr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14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 de 2+ carencias.</a:t>
            </a:r>
            <a:endParaRPr lang="en-US" sz="11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Alcance: </a:t>
            </a:r>
            <a:pPr indent="0" marL="0">
              <a:lnSpc>
                <a:spcPct val="100000"/>
              </a:lnSpc>
              <a:buNone/>
            </a:pPr>
            <a:r>
              <a:rPr lang="en-US" sz="114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carencias sin TIC = cota inferior.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548640" y="51206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Cumple el modelado multidimensional con 10 dimensiones —por encima del mínimo requerido— y desacopla el modelo de los códigos de la encuesta mediante claves subrogadas.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ENAHO 2025 · Módulo 100 (INEI)</a:t>
            </a:r>
            <a:pPr algn="l" indent="0" marL="0">
              <a:buNone/>
            </a:pPr>
            <a:r>
              <a:rPr lang="en-US" sz="900" dirty="0">
                <a:solidFill>
                  <a:srgbClr val="9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Estimaciones ponderadas por FACTOR07 · carencias sin TIC = cota inferior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858000" cy="6858000"/>
          </a:xfrm>
          <a:prstGeom prst="ellipse">
            <a:avLst/>
          </a:prstGeom>
          <a:solidFill>
            <a:srgbClr val="1B9AAA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5720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DASHBOARD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modelo al tablero: cómo lo vamos a leer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indicadores resumen el estado del país; el recorrido los explica en tres actos de negocio.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143449"/>
          </a:solidFill>
          <a:ln w="12700">
            <a:solidFill>
              <a:srgbClr val="2C51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" y="2542032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48.0%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21792" y="3218688"/>
            <a:ext cx="1911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BF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multidimensional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807208" y="237744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143449"/>
          </a:solidFill>
          <a:ln w="12700">
            <a:solidFill>
              <a:srgbClr val="2C51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62072" y="2542032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85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76.3%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880360" y="3218688"/>
            <a:ext cx="1911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BF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agua segura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65776" y="237744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143449"/>
          </a:solidFill>
          <a:ln w="12700">
            <a:solidFill>
              <a:srgbClr val="2C51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2542032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9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23.2%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138928" y="3218688"/>
            <a:ext cx="1911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BF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saneamiento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24344" y="237744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143449"/>
          </a:solidFill>
          <a:ln w="12700">
            <a:solidFill>
              <a:srgbClr val="2C51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79208" y="2542032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9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36.1%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397496" y="3218688"/>
            <a:ext cx="1911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BF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precario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582912" y="237744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143449"/>
          </a:solidFill>
          <a:ln w="12700">
            <a:solidFill>
              <a:srgbClr val="2C51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37776" y="2542032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7.5 M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656064" y="3218688"/>
            <a:ext cx="1911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BF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Hogares (población)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023360"/>
            <a:ext cx="3514344" cy="1691640"/>
          </a:xfrm>
          <a:prstGeom prst="roundRect">
            <a:avLst>
              <a:gd name="adj" fmla="val 5405"/>
            </a:avLst>
          </a:prstGeom>
          <a:solidFill>
            <a:srgbClr val="143449"/>
          </a:solidFill>
          <a:ln w="12700">
            <a:solidFill>
              <a:srgbClr val="2C51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22452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9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822960" y="4864608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está el problema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22960" y="5212080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F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privación tiene un mapa: dónde focalizar.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37304" y="4023360"/>
            <a:ext cx="3514344" cy="1691640"/>
          </a:xfrm>
          <a:prstGeom prst="roundRect">
            <a:avLst>
              <a:gd name="adj" fmla="val 5405"/>
            </a:avLst>
          </a:prstGeom>
          <a:solidFill>
            <a:srgbClr val="143449"/>
          </a:solidFill>
          <a:ln w="12700">
            <a:solidFill>
              <a:srgbClr val="2C51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1624" y="422452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4611624" y="4864608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qué dimensión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4611624" y="5212080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F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Agua, saneamiento y materiales: qué intervenir.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125968" y="4023360"/>
            <a:ext cx="3514344" cy="1691640"/>
          </a:xfrm>
          <a:prstGeom prst="roundRect">
            <a:avLst>
              <a:gd name="adj" fmla="val 5405"/>
            </a:avLst>
          </a:prstGeom>
          <a:solidFill>
            <a:srgbClr val="143449"/>
          </a:solidFill>
          <a:ln w="12700">
            <a:solidFill>
              <a:srgbClr val="2C516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00288" y="422452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85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8400288" y="4864608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pesa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400288" y="5212080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F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carencias se acumulan y cuestan distinto.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9AAA"/>
          </a:solidFill>
          <a:ln/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 1 · DÓNDE ESTÁ EL PROBLEMA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mapa de la privación: la cobertura mejora hacia la costa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68249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servicios y condiciones de vivienda por dominio (% de hogares). Verde = mejor, rojo = peor.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7370064" cy="3167834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pic>
        <p:nvPicPr>
          <p:cNvPr id="8" name="Image 0" descr="assets/c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560320"/>
            <a:ext cx="7040880" cy="28386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284464" y="2395728"/>
            <a:ext cx="3355848" cy="3566160"/>
          </a:xfrm>
          <a:prstGeom prst="roundRect">
            <a:avLst>
              <a:gd name="adj" fmla="val 2725"/>
            </a:avLst>
          </a:prstGeom>
          <a:solidFill>
            <a:srgbClr val="0E2A3F"/>
          </a:solidFill>
          <a:ln/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558784" y="2633472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evidencia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577072" y="3236976"/>
            <a:ext cx="27889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3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electricidad ya es casi universal (90–99%): no es la prioridad de inversión.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3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agua segura es la mayor brecha y cae a 5–20% en la sierra.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3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gestión: el mapa indica dónde concentrar el gasto, de sierra/selva hacia la costa.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ENAHO 2025 · Módulo 100 (INEI)</a:t>
            </a:r>
            <a:pPr algn="l" indent="0" marL="0">
              <a:buNone/>
            </a:pPr>
            <a:r>
              <a:rPr lang="en-US" sz="900" dirty="0">
                <a:solidFill>
                  <a:srgbClr val="9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Estimaciones ponderadas por FACTOR07 · carencias sin TIC = cota inferior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D85C4A"/>
          </a:solidFill>
          <a:ln/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 1 · DÓNDE ESTÁ EL PROBLEMA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brecha multidimensional es, sobre todo, territorial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68249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multidimensional de servicios básicos por dominio (% de hogares con 2+ carencias).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4169664" cy="3588668"/>
          </a:xfrm>
          <a:prstGeom prst="roundRect">
            <a:avLst>
              <a:gd name="adj" fmla="val 1529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pic>
        <p:nvPicPr>
          <p:cNvPr id="8" name="Image 0" descr="assets/c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560320"/>
            <a:ext cx="3840480" cy="32594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84064" y="2395728"/>
            <a:ext cx="6556248" cy="3588668"/>
          </a:xfrm>
          <a:prstGeom prst="roundRect">
            <a:avLst>
              <a:gd name="adj" fmla="val 2548"/>
            </a:avLst>
          </a:prstGeom>
          <a:solidFill>
            <a:srgbClr val="0E2A3F"/>
          </a:solidFill>
          <a:ln/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358384" y="2633472"/>
            <a:ext cx="6007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D8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evidencia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376672" y="3236976"/>
            <a:ext cx="5989320" cy="24913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3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14.6% en Lima a 73.7% en Sierra Norte: una brecha de ~5×.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3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dominios de sierra y selva superan el 50% de hogares.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3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gestión: focalizar por dominio rinde mucho más que una política uniforme.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ENAHO 2025 · Módulo 100 (INEI)</a:t>
            </a:r>
            <a:pPr algn="l" indent="0" marL="0">
              <a:buNone/>
            </a:pPr>
            <a:r>
              <a:rPr lang="en-US" sz="900" dirty="0">
                <a:solidFill>
                  <a:srgbClr val="9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Estimaciones ponderadas por FACTOR07 · carencias sin TIC = cota inferior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9AAA"/>
          </a:solidFill>
          <a:ln/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 2 · EN QUÉ DIMENSIÓN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Agua: tener conexión no es lo mismo que recibir servicio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68249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horizontal: % de hogares con agua por red pública. Eje vertical: horas de agua al día. Cada burbuja es un dominio.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7370064" cy="3167834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pic>
        <p:nvPicPr>
          <p:cNvPr id="8" name="Image 0" descr="assets/c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560320"/>
            <a:ext cx="7040880" cy="28386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284464" y="2395728"/>
            <a:ext cx="3355848" cy="3566160"/>
          </a:xfrm>
          <a:prstGeom prst="roundRect">
            <a:avLst>
              <a:gd name="adj" fmla="val 2725"/>
            </a:avLst>
          </a:prstGeom>
          <a:solidFill>
            <a:srgbClr val="0E2A3F"/>
          </a:solidFill>
          <a:ln/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558784" y="2633472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evidencia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577072" y="3236976"/>
            <a:ext cx="27889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3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alta y pareja (78–90%), pero la continuidad cae a ~7–21 h/día.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3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conexiones no cierran la brecha si el agua no llega todo el día.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3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gestión: el indicador a mover es la continuidad, no solo la cobertura.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ENAHO 2025 · Módulo 100 (INEI)</a:t>
            </a:r>
            <a:pPr algn="l" indent="0" marL="0">
              <a:buNone/>
            </a:pPr>
            <a:r>
              <a:rPr lang="en-US" sz="900" dirty="0">
                <a:solidFill>
                  <a:srgbClr val="9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Estimaciones ponderadas por FACTOR07 · carencias sin TIC = cota inferior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 2 · EN QUÉ DIMENSIÓN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Saneamiento y materiales siguen el mismo gradiente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Izq.: % de hogares sin saneamiento adecuado por dominio.   Der.: materiales precarios por dominio.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3035808" cy="2620811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pic>
        <p:nvPicPr>
          <p:cNvPr id="8" name="Image 0" descr="assets/c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478024"/>
            <a:ext cx="2743200" cy="232820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069080" y="2331720"/>
            <a:ext cx="6144768" cy="2652005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pic>
        <p:nvPicPr>
          <p:cNvPr id="10" name="Image 1" descr="assets/c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384" y="2478024"/>
            <a:ext cx="5852160" cy="235939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343400" y="2313432"/>
            <a:ext cx="182880" cy="182880"/>
          </a:xfrm>
          <a:prstGeom prst="rect">
            <a:avLst/>
          </a:prstGeom>
          <a:solidFill>
            <a:srgbClr val="5B6CE0"/>
          </a:solidFill>
          <a:ln/>
        </p:spPr>
      </p:sp>
      <p:sp>
        <p:nvSpPr>
          <p:cNvPr id="12" name="Text 8"/>
          <p:cNvSpPr/>
          <p:nvPr/>
        </p:nvSpPr>
        <p:spPr>
          <a:xfrm>
            <a:off x="4581144" y="22585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Pared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532120" y="2313432"/>
            <a:ext cx="182880" cy="182880"/>
          </a:xfrm>
          <a:prstGeom prst="rect">
            <a:avLst/>
          </a:prstGeom>
          <a:solidFill>
            <a:srgbClr val="D9544D"/>
          </a:solidFill>
          <a:ln/>
        </p:spPr>
      </p:sp>
      <p:sp>
        <p:nvSpPr>
          <p:cNvPr id="14" name="Text 10"/>
          <p:cNvSpPr/>
          <p:nvPr/>
        </p:nvSpPr>
        <p:spPr>
          <a:xfrm>
            <a:off x="5769864" y="22585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Piso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720840" y="2313432"/>
            <a:ext cx="182880" cy="182880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16" name="Text 12"/>
          <p:cNvSpPr/>
          <p:nvPr/>
        </p:nvSpPr>
        <p:spPr>
          <a:xfrm>
            <a:off x="6958584" y="22585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Techo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48640" y="513892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0E2A3F"/>
          </a:solidFill>
          <a:ln/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822960" y="5138928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gestión: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saneamiento repite el mapa del agua (Selva 37.5% vs. Lima 7.9%): una misma intervención territorial ataca ambas brechas. En vivienda, el piso es lo más crítico en la sierra — la palanca es mejorar la calidad, no construir vivienda nueva.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ENAHO 2025 · Módulo 100 (INEI)</a:t>
            </a:r>
            <a:pPr algn="l" indent="0" marL="0">
              <a:buNone/>
            </a:pPr>
            <a:r>
              <a:rPr lang="en-US" sz="900" dirty="0">
                <a:solidFill>
                  <a:srgbClr val="9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Estimaciones ponderadas por FACTOR07 · carencias sin TIC = cota inferior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9AAA"/>
          </a:solidFill>
          <a:ln/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 2 · EN QUÉ DIMENSIÓN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carencias estructurales pesan más (NBI oficiales)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68249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Prevalencia de Necesidades Básicas Insatisfechas (% de hogares).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4169664" cy="3588668"/>
          </a:xfrm>
          <a:prstGeom prst="roundRect">
            <a:avLst>
              <a:gd name="adj" fmla="val 1529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pic>
        <p:nvPicPr>
          <p:cNvPr id="8" name="Image 0" descr="assets/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560320"/>
            <a:ext cx="3840480" cy="32594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84064" y="2395728"/>
            <a:ext cx="6556248" cy="3588668"/>
          </a:xfrm>
          <a:prstGeom prst="roundRect">
            <a:avLst>
              <a:gd name="adj" fmla="val 2548"/>
            </a:avLst>
          </a:prstGeom>
          <a:solidFill>
            <a:srgbClr val="0E2A3F"/>
          </a:solidFill>
          <a:ln/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358384" y="2633472"/>
            <a:ext cx="6007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evidencia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376672" y="3236976"/>
            <a:ext cx="5989320" cy="24913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3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Vivienda inadecuada (6.8%) y sin servicio higiénico (6.4%) lideran las NBI.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3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Inasistencia escolar y dependencia económica no son el cuello de botella.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3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gestión: el presupuesto rinde más en vivienda y saneamiento.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ENAHO 2025 · Módulo 100 (INEI)</a:t>
            </a:r>
            <a:pPr algn="l" indent="0" marL="0">
              <a:buNone/>
            </a:pPr>
            <a:r>
              <a:rPr lang="en-US" sz="900" dirty="0">
                <a:solidFill>
                  <a:srgbClr val="9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Estimaciones ponderadas por FACTOR07 · carencias sin TIC = cota inferior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D85C4A"/>
          </a:solidFill>
          <a:ln/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 3 · CUÁNTO PESA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privación no viene sola: se acumula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68249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hogares por número de carencias de servicios básicos (sin TIC, cota inferior).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6272784" cy="3580972"/>
          </a:xfrm>
          <a:prstGeom prst="roundRect">
            <a:avLst>
              <a:gd name="adj" fmla="val 1532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pic>
        <p:nvPicPr>
          <p:cNvPr id="8" name="Image 0" descr="assets/c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560320"/>
            <a:ext cx="5943600" cy="32517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187184" y="2395728"/>
            <a:ext cx="4453128" cy="3580972"/>
          </a:xfrm>
          <a:prstGeom prst="roundRect">
            <a:avLst>
              <a:gd name="adj" fmla="val 2553"/>
            </a:avLst>
          </a:prstGeom>
          <a:solidFill>
            <a:srgbClr val="0E2A3F"/>
          </a:solidFill>
          <a:ln/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461504" y="2633472"/>
            <a:ext cx="3904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D8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evidencia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479792" y="3236976"/>
            <a:ext cx="3886200" cy="24836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3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18.1% de hogares no tiene ninguna carencia; 48% acumula dos o más.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3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Atacar una sola carencia deja al hogar privado en las demás.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3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gestión: intervenciones integrales por hogar (agua + saneamiento + materiales).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ENAHO 2025 · Módulo 100 (INEI)</a:t>
            </a:r>
            <a:pPr algn="l" indent="0" marL="0">
              <a:buNone/>
            </a:pPr>
            <a:r>
              <a:rPr lang="en-US" sz="900" dirty="0">
                <a:solidFill>
                  <a:srgbClr val="9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Estimaciones ponderadas por FACTOR07 · carencias sin TIC = cota inferior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9AAA"/>
          </a:solidFill>
          <a:ln/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 3 · CUÁNTO PESA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costo de los servicios reproduce la brecha territorial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68249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mensual promedio en servicios del hogar por dominio (S/).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6272784" cy="3580972"/>
          </a:xfrm>
          <a:prstGeom prst="roundRect">
            <a:avLst>
              <a:gd name="adj" fmla="val 1532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pic>
        <p:nvPicPr>
          <p:cNvPr id="8" name="Image 0" descr="assets/c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560320"/>
            <a:ext cx="5943600" cy="32517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187184" y="2395728"/>
            <a:ext cx="4453128" cy="3580972"/>
          </a:xfrm>
          <a:prstGeom prst="roundRect">
            <a:avLst>
              <a:gd name="adj" fmla="val 2553"/>
            </a:avLst>
          </a:prstGeom>
          <a:solidFill>
            <a:srgbClr val="0E2A3F"/>
          </a:solidFill>
          <a:ln/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461504" y="2633472"/>
            <a:ext cx="3904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evidencia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479792" y="3236976"/>
            <a:ext cx="3886200" cy="24836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3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gasta S/273 y Sierra Norte S/110 al mes: casi 2.5×.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3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más se accede a servicios, más se paga por sostenerlos.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3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gestión: evaluar tarifas o subsidios diferenciados por territorio.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ENAHO 2025 · Módulo 100 (INEI)</a:t>
            </a:r>
            <a:pPr algn="l" indent="0" marL="0">
              <a:buNone/>
            </a:pPr>
            <a:r>
              <a:rPr lang="en-US" sz="900" dirty="0">
                <a:solidFill>
                  <a:srgbClr val="9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Estimaciones ponderadas por FACTOR07 · carencias sin TIC = cota inferior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858000" cy="6858000"/>
          </a:xfrm>
          <a:prstGeom prst="ellipse">
            <a:avLst/>
          </a:prstGeom>
          <a:solidFill>
            <a:srgbClr val="1B9AAA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114300" dist="38100" dir="5400000">
              <a:srgbClr val="0E2A3F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5720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MEJORA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Focalizar la inversión donde la brecha es mayor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priorización territorial basado en el datamart: un ranking de dominios por brecha multidimensional y por continuidad de agua, que se actualiza con cada ronda ENAHO y dirige el gasto público en servicios hacia donde rinde más.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3444240" cy="2148840"/>
          </a:xfrm>
          <a:prstGeom prst="roundRect">
            <a:avLst>
              <a:gd name="adj" fmla="val 4255"/>
            </a:avLst>
          </a:prstGeom>
          <a:solidFill>
            <a:srgbClr val="143449"/>
          </a:solidFill>
          <a:ln w="12700">
            <a:solidFill>
              <a:srgbClr val="2C51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200400"/>
            <a:ext cx="289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538728"/>
            <a:ext cx="289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8–10 semanas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22960" y="4270248"/>
            <a:ext cx="294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BF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MVP (modelo + tablero). Refresco anual automatizado con cada ENAHO.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67200" y="2971800"/>
            <a:ext cx="3444240" cy="2148840"/>
          </a:xfrm>
          <a:prstGeom prst="roundRect">
            <a:avLst>
              <a:gd name="adj" fmla="val 4255"/>
            </a:avLst>
          </a:prstGeom>
          <a:solidFill>
            <a:srgbClr val="143449"/>
          </a:solidFill>
          <a:ln w="12700">
            <a:solidFill>
              <a:srgbClr val="2C51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41520" y="3200400"/>
            <a:ext cx="289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41520" y="3538728"/>
            <a:ext cx="289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Equipo de 2–3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41520" y="4270248"/>
            <a:ext cx="294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BF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ingeniero de datos (ETL) + 1 analista. Stack 100% open source: Python y PostgreSQL.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85760" y="2971800"/>
            <a:ext cx="3444240" cy="2148840"/>
          </a:xfrm>
          <a:prstGeom prst="roundRect">
            <a:avLst>
              <a:gd name="adj" fmla="val 4255"/>
            </a:avLst>
          </a:prstGeom>
          <a:solidFill>
            <a:srgbClr val="143449"/>
          </a:solidFill>
          <a:ln w="12700">
            <a:solidFill>
              <a:srgbClr val="2C51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60080" y="3200400"/>
            <a:ext cx="289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8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60080" y="3538728"/>
            <a:ext cx="289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Bajo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260080" y="4270248"/>
            <a:ext cx="294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BF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serverless escala a cero en inactividad; sin licencias propietarias.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44068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123A2E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440680"/>
            <a:ext cx="10332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7F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esperado: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7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 de un diagnóstico anual a una asignación del gasto basada en evidencia, priorizando los dominios con mayor privación y peor continuidad de servicio.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2560320"/>
            <a:ext cx="6858000" cy="6858000"/>
          </a:xfrm>
          <a:prstGeom prst="ellipse">
            <a:avLst/>
          </a:prstGeom>
          <a:solidFill>
            <a:srgbClr val="E8A33D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FB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RECOMENDACIONES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bienestar habitacional es un problema de calidad y geografía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3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déficit es de calidad y acceso, no de existencia de vivienda.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3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privación tiene un mapa: ~5× entre Lima y la sierra/selva.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3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agua, la cobertura formal oculta la falla de continuidad.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E3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datamart integra 10 dimensiones y vuelve medible la brecha.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63640" y="20574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55080" y="251460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3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Focalizar inversión por dominio según brecha y continuidad.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3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Monitorear continuidad del agua, no solo la cobertura.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3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la TIC para medir la brecha completa (hoy cota inferior).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E3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Institucionalizar el refresco anual del tablero con cada ENAHO.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6172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E9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Datamart de Bienestar Habitacional · ENAHO 2025 (INEI) · Business Intelligence 170342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Datamart de Bienestar Habitacional — ENAHO 2025</dc:title>
  <dc:subject>PptxGenJS Presentation</dc:subject>
  <dc:creator>Equipo BI</dc:creator>
  <cp:lastModifiedBy>Equipo BI</cp:lastModifiedBy>
  <cp:revision>1</cp:revision>
  <dcterms:created xsi:type="dcterms:W3CDTF">2026-06-26T17:51:53Z</dcterms:created>
  <dcterms:modified xsi:type="dcterms:W3CDTF">2026-06-26T17:51:53Z</dcterms:modified>
</cp:coreProperties>
</file>